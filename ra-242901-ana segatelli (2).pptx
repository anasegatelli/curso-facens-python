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Public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PublicSans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ublicSans-italic.fntdata"/><Relationship Id="rId6" Type="http://schemas.openxmlformats.org/officeDocument/2006/relationships/slide" Target="slides/slide1.xml"/><Relationship Id="rId18" Type="http://schemas.openxmlformats.org/officeDocument/2006/relationships/font" Target="fonts/Public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d784a77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d784a77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d784a77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d784a7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dd784a77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dd784a77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d784a77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d784a77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dd784a77b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dd784a77b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d784a77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d784a77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688a2c30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688a2c30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02075" y="265300"/>
            <a:ext cx="731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3C97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ANÁLISE DE DADOS NO MERCADO DE PERFUMARIA: DO REAL AO IMAGINÁRIO</a:t>
            </a:r>
            <a:endParaRPr sz="1800">
              <a:solidFill>
                <a:srgbClr val="E3C97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85350" y="890175"/>
            <a:ext cx="731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Uma fusão entre Dados e a Sociologia do Consumo para o GB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9225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085277" y="4249398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 SETOR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Mercado global multi 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bilionário.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3260100" y="4229074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3920651" y="4258836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A TENSÃO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Onde números encontram rituais humanos.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170975" y="4190599"/>
            <a:ext cx="2623800" cy="73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C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6756025" y="4220361"/>
            <a:ext cx="197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3C97D"/>
                </a:solidFill>
              </a:rPr>
              <a:t>OBJETIVO</a:t>
            </a:r>
            <a:endParaRPr sz="1600">
              <a:solidFill>
                <a:srgbClr val="E3C9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Decodificar vendas do eBay via Teoria de Vieira (2001).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913" y="4290325"/>
            <a:ext cx="6381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1912" y="4231438"/>
            <a:ext cx="6477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450" y="4266500"/>
            <a:ext cx="6096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vertar a imagem selcionadapara tons de branco e preto bem claros, para fica como imagem de fundo. Como se fosse uma marca dágua" id="69" name="Google Shape;69;p14"/>
          <p:cNvPicPr preferRelativeResize="0"/>
          <p:nvPr/>
        </p:nvPicPr>
        <p:blipFill rotWithShape="1">
          <a:blip r:embed="rId3">
            <a:alphaModFix/>
          </a:blip>
          <a:srcRect b="1847" l="18757" r="32759" t="-13804"/>
          <a:stretch/>
        </p:blipFill>
        <p:spPr>
          <a:xfrm>
            <a:off x="6521416" y="494250"/>
            <a:ext cx="2537650" cy="342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5643725" y="265250"/>
            <a:ext cx="328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BASE DE DADOS: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REALIDADE TRANSACIONAL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549375" y="1284550"/>
            <a:ext cx="3594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FONTE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Dados Públicos transacionais (Kaggle: ebay_mens_perfume.csv ebay_womens_perfume.csv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549375" y="2154213"/>
            <a:ext cx="347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D3702"/>
                </a:solidFill>
              </a:rPr>
              <a:t>VOLUME</a:t>
            </a:r>
            <a:endParaRPr b="1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Análise de 2000 vendas masculinas e femininas. Focadas nas variáveis Marca, Tipo (EDT/EDP) e Volume de Vendas.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549375" y="3203175"/>
            <a:ext cx="347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O </a:t>
            </a:r>
            <a:r>
              <a:rPr b="1" lang="pt-BR">
                <a:solidFill>
                  <a:srgbClr val="0D3702"/>
                </a:solidFill>
              </a:rPr>
              <a:t>CONTRASTE</a:t>
            </a:r>
            <a:endParaRPr b="1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Onde o almoritmo lê “Preço” e “Tipo”, esta análise investiga o “Comportamento” e o “Ritual”.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>
            <a:alphaModFix/>
          </a:blip>
          <a:srcRect b="10885" l="4789" r="71613" t="6958"/>
          <a:stretch/>
        </p:blipFill>
        <p:spPr>
          <a:xfrm>
            <a:off x="6082036" y="4243516"/>
            <a:ext cx="590844" cy="88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4">
            <a:alphaModFix/>
          </a:blip>
          <a:srcRect b="8649" l="37460" r="36914" t="7703"/>
          <a:stretch/>
        </p:blipFill>
        <p:spPr>
          <a:xfrm>
            <a:off x="6837445" y="4244998"/>
            <a:ext cx="641765" cy="89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8395" l="72588" r="4242" t="9455"/>
          <a:stretch/>
        </p:blipFill>
        <p:spPr>
          <a:xfrm>
            <a:off x="7679674" y="4235400"/>
            <a:ext cx="590837" cy="89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5">
            <a:alphaModFix/>
          </a:blip>
          <a:srcRect b="8595" l="69919" r="7017" t="7547"/>
          <a:stretch/>
        </p:blipFill>
        <p:spPr>
          <a:xfrm>
            <a:off x="8478764" y="4248250"/>
            <a:ext cx="590835" cy="880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6">
            <a:alphaModFix/>
          </a:blip>
          <a:srcRect b="0" l="19924" r="19918" t="0"/>
          <a:stretch/>
        </p:blipFill>
        <p:spPr>
          <a:xfrm>
            <a:off x="205275" y="422600"/>
            <a:ext cx="4707675" cy="43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QUE OS NÚMEROS DIZEM?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PADRÕES DE CONSUMO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86975" y="4559400"/>
            <a:ext cx="8569500" cy="461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</a:rPr>
              <a:t>INSIGHT:</a:t>
            </a:r>
            <a:r>
              <a:rPr lang="pt-BR" sz="900">
                <a:solidFill>
                  <a:schemeClr val="dk1"/>
                </a:solidFill>
              </a:rPr>
              <a:t> A Alta venda de produtos “Tester” (sem caixa/tampa) prova que, após a fidelização, o consumidor busca a </a:t>
            </a:r>
            <a:r>
              <a:rPr b="1" lang="pt-BR" sz="900">
                <a:solidFill>
                  <a:schemeClr val="dk1"/>
                </a:solidFill>
              </a:rPr>
              <a:t>ESSÊNCIA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b="1" lang="pt-BR" sz="900">
                <a:solidFill>
                  <a:schemeClr val="dk1"/>
                </a:solidFill>
              </a:rPr>
              <a:t>(o líquido)</a:t>
            </a:r>
            <a:r>
              <a:rPr lang="pt-BR" sz="900">
                <a:solidFill>
                  <a:schemeClr val="dk1"/>
                </a:solidFill>
              </a:rPr>
              <a:t> e não a embalagem. O </a:t>
            </a:r>
            <a:r>
              <a:rPr b="1" lang="pt-BR" sz="900">
                <a:solidFill>
                  <a:schemeClr val="dk1"/>
                </a:solidFill>
              </a:rPr>
              <a:t>preço </a:t>
            </a:r>
            <a:r>
              <a:rPr lang="pt-BR" sz="900">
                <a:solidFill>
                  <a:schemeClr val="dk1"/>
                </a:solidFill>
              </a:rPr>
              <a:t>da </a:t>
            </a:r>
            <a:r>
              <a:rPr b="1" lang="pt-BR" sz="900">
                <a:solidFill>
                  <a:schemeClr val="dk1"/>
                </a:solidFill>
              </a:rPr>
              <a:t>Eau de Parfum (EDP) </a:t>
            </a:r>
            <a:r>
              <a:rPr lang="pt-BR" sz="900">
                <a:solidFill>
                  <a:schemeClr val="dk1"/>
                </a:solidFill>
              </a:rPr>
              <a:t>sustenta-se 30-40% acima da</a:t>
            </a:r>
            <a:r>
              <a:rPr b="1" lang="pt-BR" sz="900">
                <a:solidFill>
                  <a:schemeClr val="dk1"/>
                </a:solidFill>
              </a:rPr>
              <a:t> Eau de Toilette (EDT)</a:t>
            </a:r>
            <a:r>
              <a:rPr lang="pt-BR" sz="900">
                <a:solidFill>
                  <a:schemeClr val="dk1"/>
                </a:solidFill>
              </a:rPr>
              <a:t>, validando a busca por </a:t>
            </a:r>
            <a:r>
              <a:rPr b="1" lang="pt-BR" sz="900">
                <a:solidFill>
                  <a:schemeClr val="dk1"/>
                </a:solidFill>
              </a:rPr>
              <a:t>intensidade</a:t>
            </a:r>
            <a:r>
              <a:rPr lang="pt-BR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786300" y="1550150"/>
            <a:ext cx="354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Economia do “Tester”</a:t>
            </a:r>
            <a:endParaRPr b="1" sz="15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1069275" y="1550150"/>
            <a:ext cx="354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Dominância de Volume (Top Sellers)</a:t>
            </a:r>
            <a:endParaRPr b="1" sz="15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276" y="2036950"/>
            <a:ext cx="3717024" cy="155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7240" y="1965650"/>
            <a:ext cx="2252510" cy="2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r os textos manter apenas o plano de fundo"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TEORIA DE VIEIRA (2001): 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POR QUE COMPRAMOS?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935713" y="1419401"/>
            <a:ext cx="7548814" cy="2940041"/>
            <a:chOff x="926263" y="1385626"/>
            <a:chExt cx="7548814" cy="2940041"/>
          </a:xfrm>
        </p:grpSpPr>
        <p:grpSp>
          <p:nvGrpSpPr>
            <p:cNvPr id="97" name="Google Shape;97;p16"/>
            <p:cNvGrpSpPr/>
            <p:nvPr/>
          </p:nvGrpSpPr>
          <p:grpSpPr>
            <a:xfrm>
              <a:off x="926263" y="1699715"/>
              <a:ext cx="7548814" cy="2625952"/>
              <a:chOff x="926263" y="1595901"/>
              <a:chExt cx="7548814" cy="2625952"/>
            </a:xfrm>
          </p:grpSpPr>
          <p:pic>
            <p:nvPicPr>
              <p:cNvPr descr="Remova as folha desta image" id="98" name="Google Shape;98;p1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26263" y="1994413"/>
                <a:ext cx="1310476" cy="124902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9" name="Google Shape;99;p16"/>
              <p:cNvGrpSpPr/>
              <p:nvPr/>
            </p:nvGrpSpPr>
            <p:grpSpPr>
              <a:xfrm>
                <a:off x="4719527" y="1595901"/>
                <a:ext cx="3718500" cy="954300"/>
                <a:chOff x="4568525" y="1595901"/>
                <a:chExt cx="3718500" cy="954300"/>
              </a:xfrm>
            </p:grpSpPr>
            <p:sp>
              <p:nvSpPr>
                <p:cNvPr id="100" name="Google Shape;100;p16"/>
                <p:cNvSpPr/>
                <p:nvPr/>
              </p:nvSpPr>
              <p:spPr>
                <a:xfrm>
                  <a:off x="4568525" y="1595901"/>
                  <a:ext cx="3718500" cy="9543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16"/>
                <p:cNvSpPr txBox="1"/>
                <p:nvPr/>
              </p:nvSpPr>
              <p:spPr>
                <a:xfrm>
                  <a:off x="4677008" y="1705251"/>
                  <a:ext cx="3547200" cy="800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O consumidor não busca apenas o líquido, mas “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benefícios periféricos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” (sedução, status, poder). O perfume preenche a lacuna entre o “eu real” e o “eu ideal”. Explica o sucesso de marcas como “Good Girl” e “Sauvage”.</a:t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grpSp>
            <p:nvGrpSpPr>
              <p:cNvPr id="102" name="Google Shape;102;p16"/>
              <p:cNvGrpSpPr/>
              <p:nvPr/>
            </p:nvGrpSpPr>
            <p:grpSpPr>
              <a:xfrm>
                <a:off x="4673762" y="3113653"/>
                <a:ext cx="3801315" cy="1108200"/>
                <a:chOff x="4522760" y="3113653"/>
                <a:chExt cx="3801315" cy="1108200"/>
              </a:xfrm>
            </p:grpSpPr>
            <p:sp>
              <p:nvSpPr>
                <p:cNvPr id="103" name="Google Shape;103;p16"/>
                <p:cNvSpPr/>
                <p:nvPr/>
              </p:nvSpPr>
              <p:spPr>
                <a:xfrm>
                  <a:off x="4605575" y="3140726"/>
                  <a:ext cx="3718500" cy="1069500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F7EDCE">
                    <a:alpha val="44850"/>
                  </a:srgbClr>
                </a:solidFill>
                <a:ln cap="flat" cmpd="sng" w="38100">
                  <a:solidFill>
                    <a:srgbClr val="0D370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16"/>
                <p:cNvSpPr txBox="1"/>
                <p:nvPr/>
              </p:nvSpPr>
              <p:spPr>
                <a:xfrm>
                  <a:off x="4522760" y="3113653"/>
                  <a:ext cx="3547200" cy="11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Conforme Bergson(1990) a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“memória-hábito” cria fidelidade.</a:t>
                  </a:r>
                  <a:r>
                    <a:rPr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 O cheiro é um link para o passado. O consumidor compra o Tester porque a memória já está instalada. Ele precisa apenas do </a:t>
                  </a:r>
                  <a:r>
                    <a:rPr b="1" lang="pt-BR" sz="1000">
                      <a:solidFill>
                        <a:schemeClr val="dk1"/>
                      </a:solidFill>
                      <a:latin typeface="Playfair Display"/>
                      <a:ea typeface="Playfair Display"/>
                      <a:cs typeface="Playfair Display"/>
                      <a:sym typeface="Playfair Display"/>
                    </a:rPr>
                    <a:t>acesso ao cheiro, dispensando o luxo da embalagem.</a:t>
                  </a:r>
                  <a:endParaRPr b="1" sz="1000">
                    <a:solidFill>
                      <a:schemeClr val="dk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endParaRPr>
                </a:p>
              </p:txBody>
            </p:sp>
          </p:grpSp>
          <p:sp>
            <p:nvSpPr>
              <p:cNvPr id="105" name="Google Shape;105;p16"/>
              <p:cNvSpPr/>
              <p:nvPr/>
            </p:nvSpPr>
            <p:spPr>
              <a:xfrm>
                <a:off x="2019675" y="1947250"/>
                <a:ext cx="2663700" cy="462600"/>
              </a:xfrm>
              <a:prstGeom prst="bentArrow">
                <a:avLst>
                  <a:gd fmla="val 25000" name="adj1"/>
                  <a:gd fmla="val 25000" name="adj2"/>
                  <a:gd fmla="val 25000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 flipH="1" rot="10800000">
                <a:off x="2010236" y="3018814"/>
                <a:ext cx="2733300" cy="462600"/>
              </a:xfrm>
              <a:prstGeom prst="bentArrow">
                <a:avLst>
                  <a:gd fmla="val 25000" name="adj1"/>
                  <a:gd fmla="val 25000" name="adj2"/>
                  <a:gd fmla="val 33874" name="adj3"/>
                  <a:gd fmla="val 43750" name="adj4"/>
                </a:avLst>
              </a:prstGeom>
              <a:solidFill>
                <a:srgbClr val="0D370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" name="Google Shape;107;p16"/>
            <p:cNvGrpSpPr/>
            <p:nvPr/>
          </p:nvGrpSpPr>
          <p:grpSpPr>
            <a:xfrm>
              <a:off x="5794824" y="2994226"/>
              <a:ext cx="1972200" cy="431100"/>
              <a:chOff x="5794824" y="2994226"/>
              <a:chExt cx="1972200" cy="431100"/>
            </a:xfrm>
          </p:grpSpPr>
          <p:sp>
            <p:nvSpPr>
              <p:cNvPr id="108" name="Google Shape;108;p16"/>
              <p:cNvSpPr/>
              <p:nvPr/>
            </p:nvSpPr>
            <p:spPr>
              <a:xfrm>
                <a:off x="5794824" y="30234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6"/>
              <p:cNvSpPr txBox="1"/>
              <p:nvPr/>
            </p:nvSpPr>
            <p:spPr>
              <a:xfrm>
                <a:off x="6044788" y="2994226"/>
                <a:ext cx="1377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A MEMÓRIA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10" name="Google Shape;110;p16"/>
            <p:cNvGrpSpPr/>
            <p:nvPr/>
          </p:nvGrpSpPr>
          <p:grpSpPr>
            <a:xfrm>
              <a:off x="5728877" y="1385626"/>
              <a:ext cx="1972200" cy="431100"/>
              <a:chOff x="5728877" y="1385626"/>
              <a:chExt cx="1972200" cy="4311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5728877" y="1414874"/>
                <a:ext cx="1972200" cy="372600"/>
              </a:xfrm>
              <a:prstGeom prst="roundRect">
                <a:avLst>
                  <a:gd fmla="val 16667" name="adj"/>
                </a:avLst>
              </a:prstGeom>
              <a:solidFill>
                <a:srgbClr val="0D3702"/>
              </a:solidFill>
              <a:ln cap="flat" cmpd="sng" w="9525">
                <a:solidFill>
                  <a:srgbClr val="0D370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5870326" y="1385626"/>
                <a:ext cx="1689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>
                    <a:solidFill>
                      <a:schemeClr val="lt1"/>
                    </a:solidFill>
                  </a:rPr>
                  <a:t>O IMAGINÁRIO</a:t>
                </a:r>
                <a:endParaRPr sz="160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13" name="Google Shape;113;p16"/>
          <p:cNvSpPr txBox="1"/>
          <p:nvPr/>
        </p:nvSpPr>
        <p:spPr>
          <a:xfrm>
            <a:off x="320897" y="4655125"/>
            <a:ext cx="8646600" cy="338700"/>
          </a:xfrm>
          <a:prstGeom prst="rect">
            <a:avLst/>
          </a:prstGeom>
          <a:solidFill>
            <a:srgbClr val="AEC1A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“O perfume possui uma dupla natureza: a de criar um sentido e a de ser receptáculo desse mesmo sentido” </a:t>
            </a:r>
            <a:r>
              <a:rPr lang="pt-BR" sz="1000">
                <a:solidFill>
                  <a:schemeClr val="dk1"/>
                </a:solidFill>
              </a:rPr>
              <a:t>- Durand (1995) in Vieira (2001).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420100" y="1794188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Compra da Promessa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420100" y="3097975"/>
            <a:ext cx="215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</a:rPr>
              <a:t>A Recompra por hábito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080050" y="3467275"/>
            <a:ext cx="10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O GATILHO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</a:rPr>
              <a:t> SENSORIAL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1566675" y="689950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ESTRATÉGIAS PARA O BOTICÁRIO: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D370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 IMAGINÁRIO DO RESULTADO</a:t>
            </a:r>
            <a:endParaRPr b="1" sz="1800">
              <a:solidFill>
                <a:srgbClr val="0D370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382075" y="1369475"/>
            <a:ext cx="6384900" cy="3548700"/>
          </a:xfrm>
          <a:prstGeom prst="rect">
            <a:avLst/>
          </a:prstGeom>
          <a:solidFill>
            <a:srgbClr val="F7EDCE">
              <a:alpha val="448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615280" y="3126275"/>
            <a:ext cx="5859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2- STORYTELLING SENSORIAL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Teoria:</a:t>
            </a:r>
            <a:r>
              <a:rPr lang="pt-BR" sz="1300">
                <a:solidFill>
                  <a:schemeClr val="dk1"/>
                </a:solidFill>
              </a:rPr>
              <a:t>O consumidor busca projeção de identidade.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</a:t>
            </a:r>
            <a:r>
              <a:rPr b="1" lang="pt-BR" sz="1300">
                <a:solidFill>
                  <a:srgbClr val="0D3702"/>
                </a:solidFill>
              </a:rPr>
              <a:t> </a:t>
            </a:r>
            <a:r>
              <a:rPr lang="pt-BR" sz="1300">
                <a:solidFill>
                  <a:schemeClr val="dk1"/>
                </a:solidFill>
              </a:rPr>
              <a:t>Campanhas focadas na narrativa da “persona” (quem você se torna), não apenas nas notas olfativas. Transformar o frasco em um amuleto de identidade.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547822" y="1548800"/>
            <a:ext cx="5983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D3702"/>
                </a:solidFill>
              </a:rPr>
              <a:t>1- A “PORTA DE ENTRADA” DA MEMÓRIA (TRAVEL SIZE)</a:t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O Dado: </a:t>
            </a:r>
            <a:r>
              <a:rPr lang="pt-BR" sz="1300">
                <a:solidFill>
                  <a:schemeClr val="dk1"/>
                </a:solidFill>
              </a:rPr>
              <a:t>Alto volume de vendas de “Samples” e “Testers” nos marketplaces.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A ação: </a:t>
            </a:r>
            <a:r>
              <a:rPr lang="pt-BR" sz="1300">
                <a:solidFill>
                  <a:schemeClr val="dk1"/>
                </a:solidFill>
              </a:rPr>
              <a:t>Expandir agressivamente a linha de fracionados (10ml-30ml). Reduzir a barreira financeira de entrada permite criar a “memória olfativa” inicial com baixo risco para o cliente.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D370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