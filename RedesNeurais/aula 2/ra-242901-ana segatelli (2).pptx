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layfair Display"/>
      <p:regular r:id="rId19"/>
      <p:bold r:id="rId20"/>
      <p:italic r:id="rId21"/>
      <p:boldItalic r:id="rId22"/>
    </p:embeddedFont>
    <p:embeddedFont>
      <p:font typeface="Public Sans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.fntdata"/><Relationship Id="rId22" Type="http://schemas.openxmlformats.org/officeDocument/2006/relationships/font" Target="fonts/PlayfairDisplay-boldItalic.fntdata"/><Relationship Id="rId21" Type="http://schemas.openxmlformats.org/officeDocument/2006/relationships/font" Target="fonts/PlayfairDisplay-italic.fntdata"/><Relationship Id="rId24" Type="http://schemas.openxmlformats.org/officeDocument/2006/relationships/font" Target="fonts/PublicSans-bold.fntdata"/><Relationship Id="rId23" Type="http://schemas.openxmlformats.org/officeDocument/2006/relationships/font" Target="fonts/Public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ublicSans-boldItalic.fntdata"/><Relationship Id="rId25" Type="http://schemas.openxmlformats.org/officeDocument/2006/relationships/font" Target="fonts/PublicSans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fairDispl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d784a77b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d784a77b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2803fdf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2803fdf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dd784a77b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dd784a77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3e7e417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3e7e417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868bb32a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868bb32a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8bf32f2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8bf32f2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dd784a77b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dd784a77b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dd784a77b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dd784a77b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3e7e4175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93e7e4175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868bb32a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c868bb32a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8bf32f26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c8bf32f26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868bb32a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c868bb32a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dd784a77b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bdd784a77b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25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20.jpg"/><Relationship Id="rId10" Type="http://schemas.openxmlformats.org/officeDocument/2006/relationships/image" Target="../media/image12.png"/><Relationship Id="rId9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Relationship Id="rId4" Type="http://schemas.openxmlformats.org/officeDocument/2006/relationships/image" Target="../media/image21.png"/><Relationship Id="rId5" Type="http://schemas.openxmlformats.org/officeDocument/2006/relationships/image" Target="../media/image4.png"/><Relationship Id="rId6" Type="http://schemas.openxmlformats.org/officeDocument/2006/relationships/image" Target="../media/image16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Relationship Id="rId7" Type="http://schemas.openxmlformats.org/officeDocument/2006/relationships/image" Target="../media/image28.png"/><Relationship Id="rId8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Relationship Id="rId4" Type="http://schemas.openxmlformats.org/officeDocument/2006/relationships/image" Target="../media/image14.png"/><Relationship Id="rId5" Type="http://schemas.openxmlformats.org/officeDocument/2006/relationships/image" Target="../media/image27.png"/><Relationship Id="rId6" Type="http://schemas.openxmlformats.org/officeDocument/2006/relationships/image" Target="../media/image18.png"/><Relationship Id="rId7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32.png"/><Relationship Id="rId5" Type="http://schemas.openxmlformats.org/officeDocument/2006/relationships/image" Target="../media/image26.png"/><Relationship Id="rId6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Relationship Id="rId4" Type="http://schemas.openxmlformats.org/officeDocument/2006/relationships/image" Target="../media/image2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hyperlink" Target="https://www.researchgate.net/profile/Francisco-Vieira-12/publication/343062658_Memoria_e_Imaginario_Feminino_na_Compra_de_Perfume/links/5f14f08092851c1eff217673/Memoria-e-Imaginario-Feminino-na-Compra-de-Perfume.pdf" TargetMode="External"/><Relationship Id="rId5" Type="http://schemas.openxmlformats.org/officeDocument/2006/relationships/hyperlink" Target="https://repositorio.ufpb.br/jspui/bitstream/123456789/32390/1/AnaClaraChavesSousa_Dissert.pdf" TargetMode="External"/><Relationship Id="rId6" Type="http://schemas.openxmlformats.org/officeDocument/2006/relationships/hyperlink" Target="https://bdta.abcd.usp.br/directbitstream/62e6fac7-f977-4662-a82e-cdbb02bc39ef/Leonardo%20Caresia%20Pires.pdf" TargetMode="External"/><Relationship Id="rId7" Type="http://schemas.openxmlformats.org/officeDocument/2006/relationships/hyperlink" Target="https://www.kaggle.com/datasets/kanchana1990/perfume-e-commerce-dataset-2024/data" TargetMode="External"/><Relationship Id="rId8" Type="http://schemas.openxmlformats.org/officeDocument/2006/relationships/hyperlink" Target="https://www.kaggle.com/datasets/kanchana1990/perfume-e-commerce-dataset-2024/data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jpg"/><Relationship Id="rId4" Type="http://schemas.openxmlformats.org/officeDocument/2006/relationships/image" Target="../media/image31.png"/><Relationship Id="rId5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002075" y="265300"/>
            <a:ext cx="731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3C97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ANÁLISE DE DADOS NO MERCADO DE PERFUMARIA: DO REAL AO IMAGINÁRIO</a:t>
            </a:r>
            <a:endParaRPr sz="1800">
              <a:solidFill>
                <a:srgbClr val="E3C97D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085350" y="890175"/>
            <a:ext cx="731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Uma fusão entre Dados e a Sociologia do Consumo para o GB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49225" y="4229074"/>
            <a:ext cx="2623800" cy="738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1085277" y="4249398"/>
            <a:ext cx="197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3C97D"/>
                </a:solidFill>
              </a:rPr>
              <a:t>O SETOR</a:t>
            </a:r>
            <a:endParaRPr sz="1600">
              <a:solidFill>
                <a:srgbClr val="E3C9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Mercado global multi 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bilionário de perfumes.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3260100" y="4229074"/>
            <a:ext cx="2623800" cy="738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3920651" y="4258836"/>
            <a:ext cx="197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3C97D"/>
                </a:solidFill>
              </a:rPr>
              <a:t>A TENSÃO</a:t>
            </a:r>
            <a:endParaRPr sz="1600">
              <a:solidFill>
                <a:srgbClr val="E3C9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Onde números encontram comportamentos humanos.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6170975" y="4190599"/>
            <a:ext cx="2623800" cy="738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6756025" y="4220361"/>
            <a:ext cx="197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3C97D"/>
                </a:solidFill>
              </a:rPr>
              <a:t>OBJETIVO</a:t>
            </a:r>
            <a:endParaRPr sz="1600">
              <a:solidFill>
                <a:srgbClr val="E3C9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Decodificar vendas do eBay via Teoria de Vieira (2001).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1913" y="4290325"/>
            <a:ext cx="6381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1912" y="4231438"/>
            <a:ext cx="6477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450" y="4266500"/>
            <a:ext cx="609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nvertar a imagem selcionadapara tons de branco e preto bem claros, para fica como imagem de fundo. Como se fosse uma marca dágua" id="69" name="Google Shape;69;p14"/>
          <p:cNvPicPr preferRelativeResize="0"/>
          <p:nvPr/>
        </p:nvPicPr>
        <p:blipFill rotWithShape="1">
          <a:blip r:embed="rId3">
            <a:alphaModFix/>
          </a:blip>
          <a:srcRect b="1847" l="18757" r="32759" t="-13804"/>
          <a:stretch/>
        </p:blipFill>
        <p:spPr>
          <a:xfrm>
            <a:off x="5822419" y="-503880"/>
            <a:ext cx="3365949" cy="45411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5643725" y="265250"/>
            <a:ext cx="3284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BASE DE DADOS: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REALIDADE TRANSACIONAL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71" name="Google Shape;71;p14"/>
          <p:cNvPicPr preferRelativeResize="0"/>
          <p:nvPr/>
        </p:nvPicPr>
        <p:blipFill rotWithShape="1">
          <a:blip r:embed="rId4">
            <a:alphaModFix/>
          </a:blip>
          <a:srcRect b="0" l="19924" r="19918" t="0"/>
          <a:stretch/>
        </p:blipFill>
        <p:spPr>
          <a:xfrm>
            <a:off x="152400" y="360350"/>
            <a:ext cx="5236500" cy="459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2392" y="1280735"/>
            <a:ext cx="2846475" cy="84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510" y="3270456"/>
            <a:ext cx="1959900" cy="1384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6163" y="852294"/>
            <a:ext cx="1691375" cy="2091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88906" y="1211098"/>
            <a:ext cx="2129850" cy="15316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/>
          <p:nvPr/>
        </p:nvSpPr>
        <p:spPr>
          <a:xfrm>
            <a:off x="113250" y="2385573"/>
            <a:ext cx="1861800" cy="569100"/>
          </a:xfrm>
          <a:prstGeom prst="ellipse">
            <a:avLst/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210075" y="4716118"/>
            <a:ext cx="8771700" cy="338700"/>
          </a:xfrm>
          <a:prstGeom prst="rect">
            <a:avLst/>
          </a:prstGeom>
          <a:solidFill>
            <a:srgbClr val="AEC1A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D3702"/>
                </a:solidFill>
              </a:rPr>
              <a:t>FONTE: </a:t>
            </a:r>
            <a:r>
              <a:rPr lang="pt-BR" sz="1000">
                <a:solidFill>
                  <a:schemeClr val="dk1"/>
                </a:solidFill>
              </a:rPr>
              <a:t>Dados públicos transacionais (Kaggle: </a:t>
            </a:r>
            <a:r>
              <a:rPr b="1" lang="pt-BR" sz="1000">
                <a:solidFill>
                  <a:schemeClr val="dk1"/>
                </a:solidFill>
              </a:rPr>
              <a:t>ebay_mens_perfume</a:t>
            </a:r>
            <a:r>
              <a:rPr b="1" lang="pt-BR" sz="1000">
                <a:solidFill>
                  <a:schemeClr val="dk1"/>
                </a:solidFill>
              </a:rPr>
              <a:t>.csv</a:t>
            </a:r>
            <a:r>
              <a:rPr lang="pt-BR" sz="1000">
                <a:solidFill>
                  <a:schemeClr val="dk1"/>
                </a:solidFill>
              </a:rPr>
              <a:t> e </a:t>
            </a:r>
            <a:r>
              <a:rPr b="1" lang="pt-BR" sz="1000">
                <a:solidFill>
                  <a:schemeClr val="dk1"/>
                </a:solidFill>
              </a:rPr>
              <a:t>ebay_womens_perfume.csv</a:t>
            </a:r>
            <a:r>
              <a:rPr lang="pt-BR" sz="1000">
                <a:solidFill>
                  <a:schemeClr val="dk1"/>
                </a:solidFill>
              </a:rPr>
              <a:t>)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199113" y="545888"/>
            <a:ext cx="176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Estrutura</a:t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254879" y="2943700"/>
            <a:ext cx="176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Estatísticas</a:t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173426" y="2161000"/>
            <a:ext cx="1861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Features</a:t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60775" y="2471238"/>
            <a:ext cx="2020750" cy="20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2937688" y="974140"/>
            <a:ext cx="176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Duplicidades</a:t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83" name="Google Shape;83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03901" y="2760098"/>
            <a:ext cx="3003000" cy="194819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/>
          <p:nvPr/>
        </p:nvSpPr>
        <p:spPr>
          <a:xfrm>
            <a:off x="3086391" y="3809727"/>
            <a:ext cx="1861800" cy="569100"/>
          </a:xfrm>
          <a:prstGeom prst="ellipse">
            <a:avLst/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r os textos manter apenas o plano de fundo" id="89" name="Google Shape;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1566675" y="689950"/>
            <a:ext cx="62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 QUE OS NÚMEROS DIZEM?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PADRÕES DE CONSUMO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378272" y="4681243"/>
            <a:ext cx="8569500" cy="323100"/>
          </a:xfrm>
          <a:prstGeom prst="rect">
            <a:avLst/>
          </a:prstGeom>
          <a:solidFill>
            <a:srgbClr val="AEC1A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</a:rPr>
              <a:t>INSIGHT:</a:t>
            </a:r>
            <a:r>
              <a:rPr lang="pt-BR" sz="900">
                <a:solidFill>
                  <a:schemeClr val="dk1"/>
                </a:solidFill>
              </a:rPr>
              <a:t> A Alta venda de produtos “Tester” (sem caixa/tampa) prova que, após a fidelização, o consumidor busca a </a:t>
            </a:r>
            <a:r>
              <a:rPr b="1" lang="pt-BR" sz="900">
                <a:solidFill>
                  <a:schemeClr val="dk1"/>
                </a:solidFill>
              </a:rPr>
              <a:t>ESSÊNCIA</a:t>
            </a:r>
            <a:r>
              <a:rPr lang="pt-BR" sz="900">
                <a:solidFill>
                  <a:schemeClr val="dk1"/>
                </a:solidFill>
              </a:rPr>
              <a:t> </a:t>
            </a:r>
            <a:r>
              <a:rPr b="1" lang="pt-BR" sz="900">
                <a:solidFill>
                  <a:schemeClr val="dk1"/>
                </a:solidFill>
              </a:rPr>
              <a:t>(o líquido)</a:t>
            </a:r>
            <a:r>
              <a:rPr lang="pt-BR" sz="900">
                <a:solidFill>
                  <a:schemeClr val="dk1"/>
                </a:solidFill>
              </a:rPr>
              <a:t> e não a embalagem.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4119550" y="1496125"/>
            <a:ext cx="243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Regulares vs. Testers</a:t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173925" y="1496113"/>
            <a:ext cx="354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10 </a:t>
            </a: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Top Sellers</a:t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94" name="Google Shape;9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9737" y="1967345"/>
            <a:ext cx="2491074" cy="2451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/>
          <p:cNvPicPr preferRelativeResize="0"/>
          <p:nvPr/>
        </p:nvPicPr>
        <p:blipFill rotWithShape="1">
          <a:blip r:embed="rId5">
            <a:alphaModFix/>
          </a:blip>
          <a:srcRect b="0" l="0" r="0" t="6707"/>
          <a:stretch/>
        </p:blipFill>
        <p:spPr>
          <a:xfrm>
            <a:off x="6633850" y="1963575"/>
            <a:ext cx="2491075" cy="195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9663" y="3304706"/>
            <a:ext cx="3717024" cy="125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 rotWithShape="1">
          <a:blip r:embed="rId7">
            <a:alphaModFix/>
          </a:blip>
          <a:srcRect b="0" l="1970" r="0" t="0"/>
          <a:stretch/>
        </p:blipFill>
        <p:spPr>
          <a:xfrm>
            <a:off x="259650" y="1963575"/>
            <a:ext cx="3717024" cy="12855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6809988" y="1452250"/>
            <a:ext cx="2196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</a:t>
            </a: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or concentração</a:t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r os textos manter apenas o plano de fundo" id="103" name="Google Shape;1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 txBox="1"/>
          <p:nvPr/>
        </p:nvSpPr>
        <p:spPr>
          <a:xfrm>
            <a:off x="1561825" y="188300"/>
            <a:ext cx="62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 QUE OS NÚMEROS DIZEM?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PADRÕES DE CONSUMO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8300" y="887250"/>
            <a:ext cx="2280125" cy="245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/>
          <p:nvPr/>
        </p:nvSpPr>
        <p:spPr>
          <a:xfrm>
            <a:off x="6438900" y="3239800"/>
            <a:ext cx="495300" cy="126900"/>
          </a:xfrm>
          <a:prstGeom prst="rect">
            <a:avLst/>
          </a:prstGeom>
          <a:noFill/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8900" y="847034"/>
            <a:ext cx="2975551" cy="1978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72550" y="2941187"/>
            <a:ext cx="2975550" cy="205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8000" y="847025"/>
            <a:ext cx="2975550" cy="1997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0587" y="2941175"/>
            <a:ext cx="3030375" cy="205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/>
          <p:nvPr/>
        </p:nvSpPr>
        <p:spPr>
          <a:xfrm>
            <a:off x="379350" y="4248300"/>
            <a:ext cx="679500" cy="5397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468250" y="2001550"/>
            <a:ext cx="1042800" cy="6654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4138550" y="2095650"/>
            <a:ext cx="679500" cy="5397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4036950" y="4248300"/>
            <a:ext cx="679500" cy="5397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5475300" y="4153050"/>
            <a:ext cx="679500" cy="5397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5110100" y="2064400"/>
            <a:ext cx="1042800" cy="5397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4997450" y="3659150"/>
            <a:ext cx="954000" cy="443100"/>
          </a:xfrm>
          <a:prstGeom prst="wedgeRectCallout">
            <a:avLst>
              <a:gd fmla="val -20833" name="adj1"/>
              <a:gd fmla="val 62500" name="adj2"/>
            </a:avLst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EDT</a:t>
            </a:r>
            <a:endParaRPr sz="1000"/>
          </a:p>
        </p:txBody>
      </p:sp>
      <p:sp>
        <p:nvSpPr>
          <p:cNvPr id="118" name="Google Shape;118;p16"/>
          <p:cNvSpPr/>
          <p:nvPr/>
        </p:nvSpPr>
        <p:spPr>
          <a:xfrm>
            <a:off x="4572000" y="1462050"/>
            <a:ext cx="954000" cy="443100"/>
          </a:xfrm>
          <a:prstGeom prst="wedgeRectCallout">
            <a:avLst>
              <a:gd fmla="val -20833" name="adj1"/>
              <a:gd fmla="val 62500" name="adj2"/>
            </a:avLst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EDP</a:t>
            </a:r>
            <a:endParaRPr sz="1000"/>
          </a:p>
        </p:txBody>
      </p:sp>
      <p:sp>
        <p:nvSpPr>
          <p:cNvPr id="119" name="Google Shape;119;p16"/>
          <p:cNvSpPr/>
          <p:nvPr/>
        </p:nvSpPr>
        <p:spPr>
          <a:xfrm>
            <a:off x="1058850" y="1462050"/>
            <a:ext cx="954000" cy="443100"/>
          </a:xfrm>
          <a:prstGeom prst="wedgeRectCallout">
            <a:avLst>
              <a:gd fmla="val -20833" name="adj1"/>
              <a:gd fmla="val 62500" name="adj2"/>
            </a:avLst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EDP</a:t>
            </a:r>
            <a:endParaRPr sz="1000"/>
          </a:p>
        </p:txBody>
      </p:sp>
      <p:sp>
        <p:nvSpPr>
          <p:cNvPr id="120" name="Google Shape;120;p16"/>
          <p:cNvSpPr/>
          <p:nvPr/>
        </p:nvSpPr>
        <p:spPr>
          <a:xfrm>
            <a:off x="685800" y="3747713"/>
            <a:ext cx="954000" cy="443100"/>
          </a:xfrm>
          <a:prstGeom prst="wedgeRectCallout">
            <a:avLst>
              <a:gd fmla="val -20833" name="adj1"/>
              <a:gd fmla="val 62500" name="adj2"/>
            </a:avLst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EDP</a:t>
            </a:r>
            <a:endParaRPr sz="1000"/>
          </a:p>
        </p:txBody>
      </p:sp>
      <p:sp>
        <p:nvSpPr>
          <p:cNvPr id="121" name="Google Shape;121;p16"/>
          <p:cNvSpPr txBox="1"/>
          <p:nvPr/>
        </p:nvSpPr>
        <p:spPr>
          <a:xfrm>
            <a:off x="6389264" y="3595225"/>
            <a:ext cx="2218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12% de c</a:t>
            </a: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orrelação para ml </a:t>
            </a:r>
            <a:endParaRPr b="1" sz="11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r os textos manter apenas o plano de fundo" id="126" name="Google Shape;12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1561825" y="188300"/>
            <a:ext cx="62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 QUE OS NÚMEROS DIZEM?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PADRÕES DE CONSUMO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28" name="Google Shape;12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225" y="832675"/>
            <a:ext cx="3131015" cy="2076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75" y="2973093"/>
            <a:ext cx="3091726" cy="2155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99600" y="832675"/>
            <a:ext cx="3115115" cy="2076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11300" y="2953900"/>
            <a:ext cx="3091713" cy="214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6983350" y="832675"/>
            <a:ext cx="2045700" cy="15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Níveis de entrada do dataset:</a:t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'vial'</a:t>
            </a:r>
            <a:r>
              <a:rPr lang="pt-BR" sz="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'mini'</a:t>
            </a:r>
            <a:r>
              <a:rPr lang="pt-BR" sz="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'sample'</a:t>
            </a:r>
            <a:r>
              <a:rPr lang="pt-BR" sz="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'travel'</a:t>
            </a:r>
            <a:r>
              <a:rPr lang="pt-BR" sz="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'open box'</a:t>
            </a:r>
            <a:endParaRPr b="1" sz="11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2036700" y="2152800"/>
            <a:ext cx="679500" cy="5397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3935350" y="2152800"/>
            <a:ext cx="679500" cy="5397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1674750" y="4349900"/>
            <a:ext cx="679500" cy="5397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3973450" y="4349900"/>
            <a:ext cx="679500" cy="5397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4232250" y="1595725"/>
            <a:ext cx="954000" cy="443100"/>
          </a:xfrm>
          <a:prstGeom prst="wedgeRectCallout">
            <a:avLst>
              <a:gd fmla="val -20833" name="adj1"/>
              <a:gd fmla="val 62500" name="adj2"/>
            </a:avLst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EDP</a:t>
            </a:r>
            <a:endParaRPr sz="1000"/>
          </a:p>
        </p:txBody>
      </p:sp>
      <p:sp>
        <p:nvSpPr>
          <p:cNvPr id="138" name="Google Shape;138;p17"/>
          <p:cNvSpPr/>
          <p:nvPr/>
        </p:nvSpPr>
        <p:spPr>
          <a:xfrm>
            <a:off x="2327250" y="1595725"/>
            <a:ext cx="954000" cy="443100"/>
          </a:xfrm>
          <a:prstGeom prst="wedgeRectCallout">
            <a:avLst>
              <a:gd fmla="val -20833" name="adj1"/>
              <a:gd fmla="val 62500" name="adj2"/>
            </a:avLst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EDT</a:t>
            </a:r>
            <a:endParaRPr sz="1000"/>
          </a:p>
        </p:txBody>
      </p:sp>
      <p:sp>
        <p:nvSpPr>
          <p:cNvPr id="139" name="Google Shape;139;p17"/>
          <p:cNvSpPr/>
          <p:nvPr/>
        </p:nvSpPr>
        <p:spPr>
          <a:xfrm>
            <a:off x="2168500" y="3918100"/>
            <a:ext cx="954000" cy="443100"/>
          </a:xfrm>
          <a:prstGeom prst="wedgeRectCallout">
            <a:avLst>
              <a:gd fmla="val -20833" name="adj1"/>
              <a:gd fmla="val 62500" name="adj2"/>
            </a:avLst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EDT</a:t>
            </a:r>
            <a:endParaRPr sz="1000"/>
          </a:p>
        </p:txBody>
      </p:sp>
      <p:sp>
        <p:nvSpPr>
          <p:cNvPr id="140" name="Google Shape;140;p17"/>
          <p:cNvSpPr/>
          <p:nvPr/>
        </p:nvSpPr>
        <p:spPr>
          <a:xfrm>
            <a:off x="4572000" y="3981600"/>
            <a:ext cx="954000" cy="443100"/>
          </a:xfrm>
          <a:prstGeom prst="wedgeRectCallout">
            <a:avLst>
              <a:gd fmla="val -20833" name="adj1"/>
              <a:gd fmla="val 62500" name="adj2"/>
            </a:avLst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EDP/EDT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r os textos manter apenas o plano de fundo" id="145" name="Google Shape;14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1561825" y="188300"/>
            <a:ext cx="62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 QUE OS NÚMEROS DIZEM?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PADRÕES DE CONSUMO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350" y="1009375"/>
            <a:ext cx="4079625" cy="273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4099" y="1009374"/>
            <a:ext cx="4011278" cy="273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8400" y="4133200"/>
            <a:ext cx="3107125" cy="91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r os textos manter apenas o plano de fundo" id="154" name="Google Shape;15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1566675" y="689950"/>
            <a:ext cx="62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TEORIA DE VIEIRA (2001): 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POR QUE COMPRAMOS?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56" name="Google Shape;156;p19"/>
          <p:cNvGrpSpPr/>
          <p:nvPr/>
        </p:nvGrpSpPr>
        <p:grpSpPr>
          <a:xfrm>
            <a:off x="935713" y="1419401"/>
            <a:ext cx="7548814" cy="2940041"/>
            <a:chOff x="926263" y="1385626"/>
            <a:chExt cx="7548814" cy="2940041"/>
          </a:xfrm>
        </p:grpSpPr>
        <p:grpSp>
          <p:nvGrpSpPr>
            <p:cNvPr id="157" name="Google Shape;157;p19"/>
            <p:cNvGrpSpPr/>
            <p:nvPr/>
          </p:nvGrpSpPr>
          <p:grpSpPr>
            <a:xfrm>
              <a:off x="926263" y="1699715"/>
              <a:ext cx="7548814" cy="2625952"/>
              <a:chOff x="926263" y="1595901"/>
              <a:chExt cx="7548814" cy="2625952"/>
            </a:xfrm>
          </p:grpSpPr>
          <p:pic>
            <p:nvPicPr>
              <p:cNvPr descr="Remova as folha desta image" id="158" name="Google Shape;158;p1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926263" y="1994413"/>
                <a:ext cx="1310476" cy="12490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59" name="Google Shape;159;p19"/>
              <p:cNvGrpSpPr/>
              <p:nvPr/>
            </p:nvGrpSpPr>
            <p:grpSpPr>
              <a:xfrm>
                <a:off x="4719527" y="1595901"/>
                <a:ext cx="3718500" cy="954300"/>
                <a:chOff x="4568525" y="1595901"/>
                <a:chExt cx="3718500" cy="954300"/>
              </a:xfrm>
            </p:grpSpPr>
            <p:sp>
              <p:nvSpPr>
                <p:cNvPr id="160" name="Google Shape;160;p19"/>
                <p:cNvSpPr/>
                <p:nvPr/>
              </p:nvSpPr>
              <p:spPr>
                <a:xfrm>
                  <a:off x="4568525" y="1595901"/>
                  <a:ext cx="3718500" cy="9543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7EDCE">
                    <a:alpha val="44850"/>
                  </a:srgbClr>
                </a:solidFill>
                <a:ln cap="flat" cmpd="sng" w="38100">
                  <a:solidFill>
                    <a:srgbClr val="0D370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1" name="Google Shape;161;p19"/>
                <p:cNvSpPr txBox="1"/>
                <p:nvPr/>
              </p:nvSpPr>
              <p:spPr>
                <a:xfrm>
                  <a:off x="4677008" y="1705251"/>
                  <a:ext cx="3547200" cy="646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O consumidor não busca apenas o líquido, mas “</a:t>
                  </a:r>
                  <a:r>
                    <a:rPr b="1"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benefícios periféricos</a:t>
                  </a:r>
                  <a:r>
                    <a:rPr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” (sedução, status, poder). O perfume preenche a lacuna entre o “eu real” e o “eu ideal”. </a:t>
                  </a:r>
                  <a:endParaRPr sz="1000">
                    <a:solidFill>
                      <a:schemeClr val="dk1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endParaRPr>
                </a:p>
              </p:txBody>
            </p:sp>
          </p:grpSp>
          <p:grpSp>
            <p:nvGrpSpPr>
              <p:cNvPr id="162" name="Google Shape;162;p19"/>
              <p:cNvGrpSpPr/>
              <p:nvPr/>
            </p:nvGrpSpPr>
            <p:grpSpPr>
              <a:xfrm>
                <a:off x="4673762" y="3113653"/>
                <a:ext cx="3801315" cy="1108200"/>
                <a:chOff x="4522760" y="3113653"/>
                <a:chExt cx="3801315" cy="1108200"/>
              </a:xfrm>
            </p:grpSpPr>
            <p:sp>
              <p:nvSpPr>
                <p:cNvPr id="163" name="Google Shape;163;p19"/>
                <p:cNvSpPr/>
                <p:nvPr/>
              </p:nvSpPr>
              <p:spPr>
                <a:xfrm>
                  <a:off x="4605575" y="3140726"/>
                  <a:ext cx="3718500" cy="10695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7EDCE">
                    <a:alpha val="44850"/>
                  </a:srgbClr>
                </a:solidFill>
                <a:ln cap="flat" cmpd="sng" w="38100">
                  <a:solidFill>
                    <a:srgbClr val="0D370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" name="Google Shape;164;p19"/>
                <p:cNvSpPr txBox="1"/>
                <p:nvPr/>
              </p:nvSpPr>
              <p:spPr>
                <a:xfrm>
                  <a:off x="4522760" y="3113653"/>
                  <a:ext cx="3547200" cy="110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Conforme Bergson(1990) a </a:t>
                  </a:r>
                  <a:r>
                    <a:rPr b="1"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“memória-hábito” cria fidelidade.</a:t>
                  </a:r>
                  <a:r>
                    <a:rPr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 O cheiro é um link para o passado. O consumidor compra o Tester porque a memória já está instalada. Ele precisa apenas do </a:t>
                  </a:r>
                  <a:r>
                    <a:rPr b="1"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acesso ao cheiro, dispensando o luxo da embalagem.</a:t>
                  </a:r>
                  <a:endParaRPr b="1" sz="1000">
                    <a:solidFill>
                      <a:schemeClr val="dk1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endParaRPr>
                </a:p>
              </p:txBody>
            </p:sp>
          </p:grpSp>
          <p:sp>
            <p:nvSpPr>
              <p:cNvPr id="165" name="Google Shape;165;p19"/>
              <p:cNvSpPr/>
              <p:nvPr/>
            </p:nvSpPr>
            <p:spPr>
              <a:xfrm>
                <a:off x="2019675" y="1947250"/>
                <a:ext cx="2663700" cy="4626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0D370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9"/>
              <p:cNvSpPr/>
              <p:nvPr/>
            </p:nvSpPr>
            <p:spPr>
              <a:xfrm flipH="1" rot="10800000">
                <a:off x="2010236" y="3018814"/>
                <a:ext cx="2733300" cy="462600"/>
              </a:xfrm>
              <a:prstGeom prst="bentArrow">
                <a:avLst>
                  <a:gd fmla="val 25000" name="adj1"/>
                  <a:gd fmla="val 25000" name="adj2"/>
                  <a:gd fmla="val 33874" name="adj3"/>
                  <a:gd fmla="val 43750" name="adj4"/>
                </a:avLst>
              </a:prstGeom>
              <a:solidFill>
                <a:srgbClr val="0D370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" name="Google Shape;167;p19"/>
            <p:cNvGrpSpPr/>
            <p:nvPr/>
          </p:nvGrpSpPr>
          <p:grpSpPr>
            <a:xfrm>
              <a:off x="5794824" y="2994226"/>
              <a:ext cx="1972200" cy="431100"/>
              <a:chOff x="5794824" y="2994226"/>
              <a:chExt cx="1972200" cy="431100"/>
            </a:xfrm>
          </p:grpSpPr>
          <p:sp>
            <p:nvSpPr>
              <p:cNvPr id="168" name="Google Shape;168;p19"/>
              <p:cNvSpPr/>
              <p:nvPr/>
            </p:nvSpPr>
            <p:spPr>
              <a:xfrm>
                <a:off x="5794824" y="3023474"/>
                <a:ext cx="1972200" cy="372600"/>
              </a:xfrm>
              <a:prstGeom prst="roundRect">
                <a:avLst>
                  <a:gd fmla="val 16667" name="adj"/>
                </a:avLst>
              </a:prstGeom>
              <a:solidFill>
                <a:srgbClr val="0D3702"/>
              </a:solidFill>
              <a:ln cap="flat" cmpd="sng" w="9525">
                <a:solidFill>
                  <a:srgbClr val="0D370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9"/>
              <p:cNvSpPr txBox="1"/>
              <p:nvPr/>
            </p:nvSpPr>
            <p:spPr>
              <a:xfrm>
                <a:off x="6044788" y="2994226"/>
                <a:ext cx="13779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>
                    <a:solidFill>
                      <a:schemeClr val="lt1"/>
                    </a:solidFill>
                  </a:rPr>
                  <a:t>A MEMÓRIA</a:t>
                </a:r>
                <a:endParaRPr sz="160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70" name="Google Shape;170;p19"/>
            <p:cNvGrpSpPr/>
            <p:nvPr/>
          </p:nvGrpSpPr>
          <p:grpSpPr>
            <a:xfrm>
              <a:off x="5728877" y="1385626"/>
              <a:ext cx="1972200" cy="431100"/>
              <a:chOff x="5728877" y="1385626"/>
              <a:chExt cx="1972200" cy="431100"/>
            </a:xfrm>
          </p:grpSpPr>
          <p:sp>
            <p:nvSpPr>
              <p:cNvPr id="171" name="Google Shape;171;p19"/>
              <p:cNvSpPr/>
              <p:nvPr/>
            </p:nvSpPr>
            <p:spPr>
              <a:xfrm>
                <a:off x="5728877" y="1414874"/>
                <a:ext cx="1972200" cy="372600"/>
              </a:xfrm>
              <a:prstGeom prst="roundRect">
                <a:avLst>
                  <a:gd fmla="val 16667" name="adj"/>
                </a:avLst>
              </a:prstGeom>
              <a:solidFill>
                <a:srgbClr val="0D3702"/>
              </a:solidFill>
              <a:ln cap="flat" cmpd="sng" w="9525">
                <a:solidFill>
                  <a:srgbClr val="0D370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9"/>
              <p:cNvSpPr txBox="1"/>
              <p:nvPr/>
            </p:nvSpPr>
            <p:spPr>
              <a:xfrm>
                <a:off x="5870326" y="1385626"/>
                <a:ext cx="1689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>
                    <a:solidFill>
                      <a:schemeClr val="lt1"/>
                    </a:solidFill>
                  </a:rPr>
                  <a:t>O IMAGINÁRIO</a:t>
                </a:r>
                <a:endParaRPr sz="1600"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173" name="Google Shape;173;p19"/>
          <p:cNvSpPr txBox="1"/>
          <p:nvPr/>
        </p:nvSpPr>
        <p:spPr>
          <a:xfrm>
            <a:off x="320897" y="4655125"/>
            <a:ext cx="8646600" cy="338700"/>
          </a:xfrm>
          <a:prstGeom prst="rect">
            <a:avLst/>
          </a:prstGeom>
          <a:solidFill>
            <a:srgbClr val="AEC1A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</a:rPr>
              <a:t>“O perfume possui uma dupla natureza: a de criar um sentido e a de ser receptáculo desse mesmo sentido” </a:t>
            </a:r>
            <a:r>
              <a:rPr lang="pt-BR" sz="1000">
                <a:solidFill>
                  <a:schemeClr val="dk1"/>
                </a:solidFill>
              </a:rPr>
              <a:t>- Durand (1995) in Vieira (2001).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2420100" y="1794188"/>
            <a:ext cx="215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</a:rPr>
              <a:t>A Compra da Promessa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2420100" y="3097975"/>
            <a:ext cx="215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</a:rPr>
              <a:t>A Recompra por hábito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1080050" y="3467275"/>
            <a:ext cx="101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</a:rPr>
              <a:t>O GATILHO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</a:rPr>
              <a:t> SENSORIAL</a:t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1566675" y="689950"/>
            <a:ext cx="62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ESTRATÉGIAS PARA O BOTICÁRIO: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DO IMAGINÁRIO DO RESULTADO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1382075" y="1369475"/>
            <a:ext cx="6384900" cy="3548700"/>
          </a:xfrm>
          <a:prstGeom prst="rect">
            <a:avLst/>
          </a:prstGeom>
          <a:solidFill>
            <a:srgbClr val="F7EDCE">
              <a:alpha val="44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1615280" y="3126275"/>
            <a:ext cx="58593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</a:rPr>
              <a:t>2- STORYTELLING SENSORIAL</a:t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A Teoria:</a:t>
            </a:r>
            <a:r>
              <a:rPr lang="pt-BR" sz="1300">
                <a:solidFill>
                  <a:schemeClr val="dk1"/>
                </a:solidFill>
              </a:rPr>
              <a:t>O consumidor busca projeção de identidade.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A ação:</a:t>
            </a:r>
            <a:r>
              <a:rPr b="1" lang="pt-BR" sz="1300">
                <a:solidFill>
                  <a:srgbClr val="0D3702"/>
                </a:solidFill>
              </a:rPr>
              <a:t> </a:t>
            </a:r>
            <a:r>
              <a:rPr lang="pt-BR" sz="1300">
                <a:solidFill>
                  <a:schemeClr val="dk1"/>
                </a:solidFill>
              </a:rPr>
              <a:t>Campanhas focadas na narrativa da “persona” (quem você se torna), não apenas nas notas olfativas. Transformar o frasco em um amuleto de identidade.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582775" y="1392127"/>
            <a:ext cx="59835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</a:rPr>
              <a:t>1- A “PORTA DE ENTRADA” DA MEMÓRIA (TRAVEL SIZE)</a:t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O Dado: </a:t>
            </a:r>
            <a:r>
              <a:rPr lang="pt-BR" sz="1300">
                <a:solidFill>
                  <a:schemeClr val="dk1"/>
                </a:solidFill>
              </a:rPr>
              <a:t>Alto volume de vendas de “Samples” e “Testers” nos marketplaces.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A ação: </a:t>
            </a:r>
            <a:r>
              <a:rPr lang="pt-BR" sz="1300">
                <a:solidFill>
                  <a:schemeClr val="dk1"/>
                </a:solidFill>
              </a:rPr>
              <a:t>Expandir agressivamente a linha de fracionados (10ml-30ml). Reduzir a barreira financeira de entrada permite criar a “memória olfativa” inicial com baixo risco para o cliente.</a:t>
            </a:r>
            <a:endParaRPr b="1" sz="1300">
              <a:solidFill>
                <a:srgbClr val="0D370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r os textos manter apenas o plano de fundo"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1566675" y="689950"/>
            <a:ext cx="62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VARIÁVEL TARGET - categoria_vendas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1382075" y="1369475"/>
            <a:ext cx="6384900" cy="3548700"/>
          </a:xfrm>
          <a:prstGeom prst="rect">
            <a:avLst/>
          </a:prstGeom>
          <a:solidFill>
            <a:srgbClr val="F7EDCE">
              <a:alpha val="44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1513988" y="1383125"/>
            <a:ext cx="6111300" cy="3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</a:rPr>
              <a:t> </a:t>
            </a:r>
            <a:r>
              <a:rPr b="1" lang="pt-BR" sz="1300">
                <a:solidFill>
                  <a:srgbClr val="0D3702"/>
                </a:solidFill>
              </a:rPr>
              <a:t>Previsão de Demanda ou Popularidade (</a:t>
            </a:r>
            <a:r>
              <a:rPr b="1" lang="pt-BR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categoria_vendas</a:t>
            </a:r>
            <a:r>
              <a:rPr b="1" lang="pt-BR" sz="1300">
                <a:solidFill>
                  <a:srgbClr val="0D3702"/>
                </a:solidFill>
              </a:rPr>
              <a:t>)</a:t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</a:rPr>
              <a:t>Tipo de Modelo:</a:t>
            </a:r>
            <a:r>
              <a:rPr lang="pt-BR" sz="1300">
                <a:solidFill>
                  <a:schemeClr val="dk1"/>
                </a:solidFill>
              </a:rPr>
              <a:t> Regressão </a:t>
            </a:r>
            <a:r>
              <a:rPr lang="pt-BR" sz="1300">
                <a:solidFill>
                  <a:schemeClr val="dk1"/>
                </a:solidFill>
              </a:rPr>
              <a:t>Logística</a:t>
            </a:r>
            <a:r>
              <a:rPr lang="pt-BR" sz="1300">
                <a:solidFill>
                  <a:schemeClr val="dk1"/>
                </a:solidFill>
              </a:rPr>
              <a:t>/ XGBoost.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</a:rPr>
              <a:t>Objetivo:</a:t>
            </a:r>
            <a:r>
              <a:rPr lang="pt-BR" sz="1300">
                <a:solidFill>
                  <a:schemeClr val="dk1"/>
                </a:solidFill>
              </a:rPr>
              <a:t> Identificar quais variáveis preditoras( volume(ml), tipo da concentração, </a:t>
            </a:r>
            <a:r>
              <a:rPr lang="pt-BR" sz="1300">
                <a:solidFill>
                  <a:schemeClr val="dk1"/>
                </a:solidFill>
              </a:rPr>
              <a:t>gênero, produto nível de entrada, segmento de mercado, marca, preço</a:t>
            </a:r>
            <a:r>
              <a:rPr lang="pt-BR" sz="1300">
                <a:solidFill>
                  <a:schemeClr val="dk1"/>
                </a:solidFill>
              </a:rPr>
              <a:t>) influenciam no volume de vendas.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</a:rPr>
              <a:t>Justificativa Científica:</a:t>
            </a:r>
            <a:r>
              <a:rPr lang="pt-BR" sz="1300">
                <a:solidFill>
                  <a:schemeClr val="dk1"/>
                </a:solidFill>
              </a:rPr>
              <a:t> Entender o "processo de compra" e o "comportamento do consumidor" é o fator central para o marketing de perfumes. Identificar o fator principal nas vendas permite que a organização ajuste suas "estratégias de desenvolvimento de produtos e segmentação de mercados".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</a:rPr>
              <a:t>Aplicações:</a:t>
            </a:r>
            <a:r>
              <a:rPr lang="pt-BR" sz="1100">
                <a:solidFill>
                  <a:schemeClr val="dk1"/>
                </a:solidFill>
              </a:rPr>
              <a:t> </a:t>
            </a:r>
            <a:r>
              <a:rPr lang="pt-BR" sz="1300">
                <a:solidFill>
                  <a:schemeClr val="dk1"/>
                </a:solidFill>
              </a:rPr>
              <a:t>Gestão de estoque e identificação de tendências de mercado.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r os textos manter apenas o plano de fundo" id="197" name="Google Shape;19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1566675" y="689950"/>
            <a:ext cx="62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CONCEITUAÇÃO DOS MODELOS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1382075" y="1369475"/>
            <a:ext cx="6384900" cy="3548700"/>
          </a:xfrm>
          <a:prstGeom prst="rect">
            <a:avLst/>
          </a:prstGeom>
          <a:solidFill>
            <a:srgbClr val="F7EDCE">
              <a:alpha val="44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1513988" y="1383125"/>
            <a:ext cx="6111300" cy="3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</a:rPr>
              <a:t> </a:t>
            </a:r>
            <a:r>
              <a:rPr b="1" lang="pt-BR" sz="1300">
                <a:solidFill>
                  <a:srgbClr val="0D3702"/>
                </a:solidFill>
              </a:rPr>
              <a:t>Regressão </a:t>
            </a:r>
            <a:r>
              <a:rPr b="1" lang="pt-BR" sz="1300">
                <a:solidFill>
                  <a:srgbClr val="0D3702"/>
                </a:solidFill>
              </a:rPr>
              <a:t>Logística</a:t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</a:rPr>
              <a:t>“Tem como objetivo encontrar relações entre dois fatores de dados. Depois que essa relação é encontrada, ela é utilizada para prever o valor de um dos fatores com base no outro. Além disso, a Regressão Logística procura estimar a probabilidade do valor da variável dependente em relação </a:t>
            </a:r>
            <a:r>
              <a:rPr lang="pt-BR" sz="1200">
                <a:solidFill>
                  <a:schemeClr val="dk1"/>
                </a:solidFill>
              </a:rPr>
              <a:t>às</a:t>
            </a:r>
            <a:r>
              <a:rPr lang="pt-BR" sz="1200">
                <a:solidFill>
                  <a:schemeClr val="dk1"/>
                </a:solidFill>
              </a:rPr>
              <a:t> demais variáveis, que podem ser categóricas ou não. Essa probabilidade é </a:t>
            </a:r>
            <a:r>
              <a:rPr lang="pt-BR" sz="1200">
                <a:solidFill>
                  <a:schemeClr val="dk1"/>
                </a:solidFill>
              </a:rPr>
              <a:t>binária</a:t>
            </a:r>
            <a:r>
              <a:rPr lang="pt-BR" sz="1200">
                <a:solidFill>
                  <a:schemeClr val="dk1"/>
                </a:solidFill>
              </a:rPr>
              <a:t> (1 e 0), ou sim</a:t>
            </a:r>
            <a:r>
              <a:rPr b="1" lang="pt-BR" sz="1000">
                <a:solidFill>
                  <a:srgbClr val="0D3702"/>
                </a:solidFill>
              </a:rPr>
              <a:t> </a:t>
            </a:r>
            <a:r>
              <a:rPr lang="pt-BR" sz="1300">
                <a:solidFill>
                  <a:schemeClr val="dk1"/>
                </a:solidFill>
              </a:rPr>
              <a:t>ou</a:t>
            </a:r>
            <a:r>
              <a:rPr b="1" lang="pt-BR" sz="1000">
                <a:solidFill>
                  <a:srgbClr val="0D3702"/>
                </a:solidFill>
              </a:rPr>
              <a:t> </a:t>
            </a:r>
            <a:r>
              <a:rPr lang="pt-BR" sz="1300">
                <a:solidFill>
                  <a:schemeClr val="dk1"/>
                </a:solidFill>
              </a:rPr>
              <a:t>não”.(Pires,2023)</a:t>
            </a:r>
            <a:endParaRPr b="1" sz="1000">
              <a:solidFill>
                <a:srgbClr val="0D370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</a:rPr>
              <a:t>XGBoost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É uma versão melhorada do Gradiente </a:t>
            </a:r>
            <a:r>
              <a:rPr lang="pt-BR" sz="1200">
                <a:solidFill>
                  <a:schemeClr val="dk1"/>
                </a:solidFill>
              </a:rPr>
              <a:t>Descendente</a:t>
            </a:r>
            <a:r>
              <a:rPr lang="pt-BR" sz="1200">
                <a:solidFill>
                  <a:schemeClr val="dk1"/>
                </a:solidFill>
              </a:rPr>
              <a:t> e significa (eXtreme Gradient Boosting). Pelo nome já podemos deduzir que esse algoritmo é uma versão mais complexa do Gradient Boosting.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r os textos manter apenas o plano de fundo" id="205" name="Google Shape;2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/>
          <p:nvPr/>
        </p:nvSpPr>
        <p:spPr>
          <a:xfrm>
            <a:off x="1566675" y="689950"/>
            <a:ext cx="62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SELEÇÃO</a:t>
            </a: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DOS MODELOS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1382075" y="1369475"/>
            <a:ext cx="6384900" cy="3548700"/>
          </a:xfrm>
          <a:prstGeom prst="rect">
            <a:avLst/>
          </a:prstGeom>
          <a:solidFill>
            <a:srgbClr val="F7EDCE">
              <a:alpha val="44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1513988" y="1383125"/>
            <a:ext cx="6111300" cy="3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</a:rPr>
              <a:t>O Modelo de</a:t>
            </a:r>
            <a:r>
              <a:rPr b="1" lang="pt-BR" sz="1300">
                <a:solidFill>
                  <a:srgbClr val="0D3702"/>
                </a:solidFill>
              </a:rPr>
              <a:t> Regressão Logística</a:t>
            </a:r>
            <a:r>
              <a:rPr lang="pt-BR" sz="1200">
                <a:solidFill>
                  <a:schemeClr val="dk1"/>
                </a:solidFill>
              </a:rPr>
              <a:t> foi testado por (PIRES,2023) para o cenário de propensão de compras de um e-commerce cujo dataset é do Kaggle. Este modelo obteve o melhor resultado para os seus testes e, foi associado ao nosso cenário de vendas por se tratar de um modelo simples. O nosso dataset de vendas tem origem e temas semelhantes por isso o artigo foi considerado neste trabalho.  Aqui o objetivo é identificar os motivadores da venda de um determinado produto.</a:t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O Modelo</a:t>
            </a:r>
            <a:r>
              <a:rPr b="1" lang="pt-BR" sz="1300">
                <a:solidFill>
                  <a:srgbClr val="0D3702"/>
                </a:solidFill>
              </a:rPr>
              <a:t> XGBoost</a:t>
            </a:r>
            <a:r>
              <a:rPr lang="pt-BR" sz="1200">
                <a:solidFill>
                  <a:schemeClr val="dk1"/>
                </a:solidFill>
              </a:rPr>
              <a:t> foi testado por (SOUSA, 2024) para o cenário de previsão de demanda de cosméticos no varejo. Onde o tema, mercado, produtos e empresa estão associados a este trabalho. Este modelo foi o segundo melhor nos seus testes e, será considerado neste trabalho por não necessitar de um algoritmo tão robusto como o </a:t>
            </a:r>
            <a:r>
              <a:rPr b="1" lang="pt-BR" sz="1300">
                <a:solidFill>
                  <a:srgbClr val="0D3702"/>
                </a:solidFill>
              </a:rPr>
              <a:t>Prophet </a:t>
            </a:r>
            <a:r>
              <a:rPr lang="pt-BR" sz="1200">
                <a:solidFill>
                  <a:schemeClr val="dk1"/>
                </a:solidFill>
              </a:rPr>
              <a:t>que foi o selecionado em sua análise final.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pt-BR" sz="1100">
                <a:solidFill>
                  <a:schemeClr val="dk1"/>
                </a:solidFill>
              </a:rPr>
              <a:t>Nossos dataset não possui dados históricos e dessa forma não é necessário uma modelo complexo. Porém, para cenários reais pode ser considerado.</a:t>
            </a:r>
            <a:endParaRPr b="1" sz="12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/>
        </p:nvSpPr>
        <p:spPr>
          <a:xfrm>
            <a:off x="1566675" y="689950"/>
            <a:ext cx="62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REFERÊNCIAS BIBLIOGRÁFICAS: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14" name="Google Shape;214;p24"/>
          <p:cNvSpPr/>
          <p:nvPr/>
        </p:nvSpPr>
        <p:spPr>
          <a:xfrm>
            <a:off x="1382075" y="1369475"/>
            <a:ext cx="6384900" cy="3548700"/>
          </a:xfrm>
          <a:prstGeom prst="rect">
            <a:avLst/>
          </a:prstGeom>
          <a:solidFill>
            <a:srgbClr val="F7EDCE">
              <a:alpha val="44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4"/>
          <p:cNvSpPr txBox="1"/>
          <p:nvPr/>
        </p:nvSpPr>
        <p:spPr>
          <a:xfrm>
            <a:off x="1500225" y="1735625"/>
            <a:ext cx="60279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rgbClr val="0D3702"/>
                </a:solidFill>
              </a:rPr>
              <a:t>NBR 6023- VIEIRA, F. Memória e imaginário feminino na compra de perfume. ENCONTRO DA, 2001</a:t>
            </a:r>
            <a:endParaRPr b="1" sz="9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https://www.researchgate.net/profile/Francisco-Vieira-12/publication/343062658_Memoria_e_Imaginario_Feminino_na_Compra_de_Perfume/links/5f14f08092851c1eff217673/Memoria-e-Imaginario-Feminino-na-Compra-de-Perfume.pdf</a:t>
            </a:r>
            <a:endParaRPr b="1" sz="7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0D3702"/>
                </a:solidFill>
              </a:rPr>
              <a:t>NBR 6023- SOUSA, Ana Clara Chaves et al. Previsão de demanda de cosméticos no varejo utilizando aprendizagem de máquina. 2024.</a:t>
            </a:r>
            <a:endParaRPr b="1" sz="9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 u="sng">
                <a:solidFill>
                  <a:schemeClr val="hlink"/>
                </a:solidFill>
                <a:hlinkClick r:id="rId5"/>
              </a:rPr>
              <a:t>https://repositorio.ufpb.br/jspui/bitstream/123456789/32390/1/AnaClaraChavesSousa_Dissert.pdf</a:t>
            </a:r>
            <a:endParaRPr b="1" sz="9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0D3702"/>
                </a:solidFill>
              </a:rPr>
              <a:t>NBR 6023- PIRES, Leonardo Caresia. Modelo de Propensão: Como Identificar os Clientes com Maior Chance de Compra?.</a:t>
            </a:r>
            <a:endParaRPr b="1" sz="9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 u="sng">
                <a:solidFill>
                  <a:schemeClr val="hlink"/>
                </a:solidFill>
                <a:hlinkClick r:id="rId6"/>
              </a:rPr>
              <a:t>https://bdta.abcd.usp.br/directbitstream/62e6fac7-f977-4662-a82e-cdbb02bc39ef/Leonardo%20Caresia%20Pires.pdf</a:t>
            </a:r>
            <a:endParaRPr b="1" sz="9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0D3702"/>
                </a:solidFill>
              </a:rPr>
              <a:t>Dataset: </a:t>
            </a:r>
            <a:endParaRPr b="1" sz="9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 u="sng">
                <a:solidFill>
                  <a:schemeClr val="hlink"/>
                </a:solidFill>
                <a:hlinkClick r:id="rId7"/>
              </a:rPr>
              <a:t>https://www.kaggle.com/datasets/kanchana1990/perfume-e-commerce-dataset-2024/data</a:t>
            </a:r>
            <a:r>
              <a:rPr b="1" lang="pt-BR" sz="1300" u="sng">
                <a:solidFill>
                  <a:schemeClr val="hlink"/>
                </a:solidFill>
                <a:hlinkClick r:id="rId8"/>
              </a:rPr>
              <a:t> </a:t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D3702"/>
              </a:solidFill>
            </a:endParaRPr>
          </a:p>
        </p:txBody>
      </p:sp>
      <p:sp>
        <p:nvSpPr>
          <p:cNvPr id="216" name="Google Shape;216;p24"/>
          <p:cNvSpPr txBox="1"/>
          <p:nvPr/>
        </p:nvSpPr>
        <p:spPr>
          <a:xfrm>
            <a:off x="1582775" y="1534364"/>
            <a:ext cx="598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D370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4575" y="2159325"/>
            <a:ext cx="3321401" cy="286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150" y="1221994"/>
            <a:ext cx="3056226" cy="1680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5"/>
          <p:cNvSpPr txBox="1"/>
          <p:nvPr/>
        </p:nvSpPr>
        <p:spPr>
          <a:xfrm>
            <a:off x="1292600" y="607375"/>
            <a:ext cx="62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CASO REAL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